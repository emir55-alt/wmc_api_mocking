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1" r:id="rId3"/>
    <p:sldId id="272" r:id="rId4"/>
    <p:sldId id="273" r:id="rId5"/>
    <p:sldId id="260" r:id="rId6"/>
    <p:sldId id="274" r:id="rId7"/>
    <p:sldId id="257" r:id="rId8"/>
    <p:sldId id="258" r:id="rId9"/>
    <p:sldId id="259" r:id="rId10"/>
    <p:sldId id="262" r:id="rId11"/>
    <p:sldId id="263" r:id="rId12"/>
    <p:sldId id="264" r:id="rId13"/>
    <p:sldId id="275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384" y="-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8150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355D8-16F9-E94F-62EE-58E463458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18BA1B-BA4C-5B04-0130-A3FE8DD78D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7FC85E-7DC0-B4F0-A467-4D7C6DA31D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38565E-F238-5C16-DA65-1C8C41AFDA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034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46CF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API-Mocking mit</a:t>
            </a:r>
            <a:endParaRPr lang="en-US" sz="4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Mock Service Worker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6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3 – Mocking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Öztürk, </a:t>
            </a:r>
            <a:r>
              <a:rPr lang="en-US" sz="14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Nesic</a:t>
            </a: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Aleksic, Basra, Leber, Kriener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Was ist API-Mocking?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47548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 dirty="0"/>
          </a:p>
        </p:txBody>
      </p:sp>
      <p:sp>
        <p:nvSpPr>
          <p:cNvPr id="5" name="Text 2"/>
          <p:cNvSpPr/>
          <p:nvPr/>
        </p:nvSpPr>
        <p:spPr>
          <a:xfrm>
            <a:off x="914400" y="1402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r>
              <a:rPr lang="de-DE" b="1" dirty="0" err="1">
                <a:solidFill>
                  <a:srgbClr val="028090"/>
                </a:solidFill>
                <a:latin typeface="Consolas" pitchFamily="34" charset="0"/>
              </a:rPr>
              <a:t>ie</a:t>
            </a:r>
            <a:r>
              <a:rPr lang="de-DE" b="1" dirty="0">
                <a:solidFill>
                  <a:srgbClr val="028090"/>
                </a:solidFill>
                <a:latin typeface="Consolas" pitchFamily="34" charset="0"/>
              </a:rPr>
              <a:t> Grundidee</a:t>
            </a:r>
          </a:p>
        </p:txBody>
      </p:sp>
      <p:sp>
        <p:nvSpPr>
          <p:cNvPr id="6" name="Text 3"/>
          <p:cNvSpPr/>
          <p:nvPr/>
        </p:nvSpPr>
        <p:spPr>
          <a:xfrm>
            <a:off x="914400" y="210312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0" y="128016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Shape 5"/>
          <p:cNvSpPr/>
          <p:nvPr/>
        </p:nvSpPr>
        <p:spPr>
          <a:xfrm>
            <a:off x="6217920" y="1554480"/>
            <a:ext cx="1920240" cy="5029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6"/>
          <p:cNvSpPr/>
          <p:nvPr/>
        </p:nvSpPr>
        <p:spPr>
          <a:xfrm>
            <a:off x="6217920" y="15544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Deine App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0" y="2148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 fetch('/api/products')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2560320"/>
            <a:ext cx="1920240" cy="5029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9"/>
          <p:cNvSpPr/>
          <p:nvPr/>
        </p:nvSpPr>
        <p:spPr>
          <a:xfrm>
            <a:off x="621792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MSW fängt ab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0" y="3154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 Fake-Antwort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17920" y="3566160"/>
            <a:ext cx="1920240" cy="5029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2"/>
          <p:cNvSpPr/>
          <p:nvPr/>
        </p:nvSpPr>
        <p:spPr>
          <a:xfrm>
            <a:off x="6217920" y="3566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Mock-Daten ✓</a:t>
            </a:r>
            <a:endParaRPr lang="en-US" sz="1300" dirty="0"/>
          </a:p>
        </p:txBody>
      </p:sp>
      <p:sp>
        <p:nvSpPr>
          <p:cNvPr id="16" name="LeftBody">
            <a:extLst>
              <a:ext uri="{FF2B5EF4-FFF2-40B4-BE49-F238E27FC236}">
                <a16:creationId xmlns:a16="http://schemas.microsoft.com/office/drawing/2014/main" id="{CEDF86EB-F4A4-D9DA-1DD3-E7270D3C81D9}"/>
              </a:ext>
            </a:extLst>
          </p:cNvPr>
          <p:cNvSpPr/>
          <p:nvPr/>
        </p:nvSpPr>
        <p:spPr>
          <a:xfrm>
            <a:off x="868680" y="196668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de-DE" sz="1300" dirty="0">
                <a:solidFill>
                  <a:srgbClr val="1A1A2E"/>
                </a:solidFill>
                <a:latin typeface="Calibri" pitchFamily="34" charset="0"/>
              </a:rPr>
              <a:t>Mocking = echte Sache durch eine Fälschung ersetzen, um sie kontrollieren zu konnen.</a:t>
            </a:r>
          </a:p>
          <a:p>
            <a:pPr marL="0" indent="0">
              <a:lnSpc>
                <a:spcPct val="130000"/>
              </a:lnSpc>
              <a:spcBef>
                <a:spcPts val="500"/>
              </a:spcBef>
              <a:buNone/>
            </a:pPr>
            <a:r>
              <a:rPr lang="de-DE" sz="1300" b="1" dirty="0">
                <a:solidFill>
                  <a:srgbClr val="028090"/>
                </a:solidFill>
                <a:latin typeface="Calibri" pitchFamily="34" charset="0"/>
              </a:rPr>
              <a:t>Real-Life Beispiel: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de-DE" sz="1300" dirty="0">
                <a:solidFill>
                  <a:srgbClr val="5A6B7B"/>
                </a:solidFill>
                <a:latin typeface="Calibri" pitchFamily="34" charset="0"/>
              </a:rPr>
              <a:t>Crashtest-Dummy statt echtem Menschen.</a:t>
            </a:r>
          </a:p>
          <a:p>
            <a:pPr>
              <a:lnSpc>
                <a:spcPct val="130000"/>
              </a:lnSpc>
              <a:spcBef>
                <a:spcPts val="500"/>
              </a:spcBef>
            </a:pPr>
            <a:r>
              <a:rPr lang="de-DE" sz="1300" b="1" dirty="0">
                <a:solidFill>
                  <a:srgbClr val="02C39A"/>
                </a:solidFill>
                <a:latin typeface="Calibri" pitchFamily="34" charset="0"/>
              </a:rPr>
              <a:t>Warum </a:t>
            </a:r>
            <a:r>
              <a:rPr lang="de-DE" sz="1300" b="1" dirty="0" err="1">
                <a:solidFill>
                  <a:srgbClr val="02C39A"/>
                </a:solidFill>
                <a:latin typeface="Calibri" pitchFamily="34" charset="0"/>
              </a:rPr>
              <a:t>mocking</a:t>
            </a:r>
            <a:r>
              <a:rPr lang="de-DE" sz="1300" b="1" dirty="0">
                <a:solidFill>
                  <a:srgbClr val="02C39A"/>
                </a:solidFill>
                <a:latin typeface="Calibri" pitchFamily="34" charset="0"/>
              </a:rPr>
              <a:t>?</a:t>
            </a:r>
          </a:p>
          <a:p>
            <a:pPr>
              <a:lnSpc>
                <a:spcPct val="130000"/>
              </a:lnSpc>
            </a:pPr>
            <a:r>
              <a:rPr lang="de-DE" sz="1300" dirty="0">
                <a:solidFill>
                  <a:srgbClr val="5A6B7B"/>
                </a:solidFill>
                <a:latin typeface="Calibri" pitchFamily="34" charset="0"/>
              </a:rPr>
              <a:t>✓ Schneller testen ohne echten Server</a:t>
            </a:r>
          </a:p>
          <a:p>
            <a:pPr>
              <a:lnSpc>
                <a:spcPct val="130000"/>
              </a:lnSpc>
            </a:pPr>
            <a:r>
              <a:rPr lang="de-DE" sz="1300" dirty="0">
                <a:solidFill>
                  <a:srgbClr val="5A6B7B"/>
                </a:solidFill>
                <a:latin typeface="Calibri" pitchFamily="34" charset="0"/>
              </a:rPr>
              <a:t>✓ Fehlerfälle auf Knopfdruck simulieren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 Service Worker (MSW)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3152" cy="1463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325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MSW ist eine Library, die Netzwerk-Anfragen auf der Service-Worker-Ebene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abfängt – also bevor sie den echten Server erreichen.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45920" y="20116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Code (fetch, axios) bleibt unverändert. MSW sitzt dazwischen.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92608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6"/>
          <p:cNvSpPr/>
          <p:nvPr/>
        </p:nvSpPr>
        <p:spPr>
          <a:xfrm>
            <a:off x="640080" y="2926080"/>
            <a:ext cx="3749040" cy="73152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7"/>
          <p:cNvSpPr/>
          <p:nvPr/>
        </p:nvSpPr>
        <p:spPr>
          <a:xfrm>
            <a:off x="86868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 Methode: jest.spyOn / Mock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68680" y="36118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Überschreibt fetch/axios direkt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Testet nicht den echten Netzwerk-Pfad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Fehleranfällig bei Refactoring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754880" y="292608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3" name="Shape 10"/>
          <p:cNvSpPr/>
          <p:nvPr/>
        </p:nvSpPr>
        <p:spPr>
          <a:xfrm>
            <a:off x="4754880" y="2926080"/>
            <a:ext cx="374904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1"/>
          <p:cNvSpPr/>
          <p:nvPr/>
        </p:nvSpPr>
        <p:spPr>
          <a:xfrm>
            <a:off x="498348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MSW: Netzwerk-Ebene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983480" y="36118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Fängt Requests auf Netzwerk-Ebene ab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fetch-Code bleibt original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Realistischere Tests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3200" b="1" dirty="0">
                <a:solidFill>
                  <a:srgbClr val="1A1A2E"/>
                </a:solidFill>
                <a:latin typeface="Consolas" pitchFamily="34" charset="0"/>
              </a:rPr>
              <a:t>Wie funktioniert MSW technisch?</a:t>
            </a:r>
          </a:p>
        </p:txBody>
      </p:sp>
      <p:sp>
        <p:nvSpPr>
          <p:cNvPr id="3" name="Sub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dirty="0">
                <a:solidFill>
                  <a:srgbClr val="5A6B7B"/>
                </a:solidFill>
                <a:latin typeface="Calibri" pitchFamily="34" charset="0"/>
              </a:rPr>
              <a:t>MSW nutzt einen Service Worker – eine JavaScript-Datei die als Proxy zwischen Browser und Netzwerk sitzt.</a:t>
            </a:r>
          </a:p>
        </p:txBody>
      </p:sp>
      <p:sp>
        <p:nvSpPr>
          <p:cNvPr id="4" name="Box1"/>
          <p:cNvSpPr/>
          <p:nvPr/>
        </p:nvSpPr>
        <p:spPr>
          <a:xfrm>
            <a:off x="640080" y="1417320"/>
            <a:ext cx="1554480" cy="54864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Calibri" pitchFamily="34" charset="0"/>
              </a:rPr>
              <a:t>React App</a:t>
            </a:r>
          </a:p>
        </p:txBody>
      </p:sp>
      <p:sp>
        <p:nvSpPr>
          <p:cNvPr id="5" name="Arrow1"/>
          <p:cNvSpPr/>
          <p:nvPr/>
        </p:nvSpPr>
        <p:spPr>
          <a:xfrm>
            <a:off x="2285760" y="1600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2000" b="1" dirty="0">
                <a:solidFill>
                  <a:srgbClr val="1A1A2E"/>
                </a:solidFill>
                <a:latin typeface="Consolas" pitchFamily="34" charset="0"/>
              </a:rPr>
              <a:t>→</a:t>
            </a:r>
          </a:p>
        </p:txBody>
      </p:sp>
      <p:sp>
        <p:nvSpPr>
          <p:cNvPr id="6" name="Box2"/>
          <p:cNvSpPr/>
          <p:nvPr/>
        </p:nvSpPr>
        <p:spPr>
          <a:xfrm>
            <a:off x="2926080" y="1417320"/>
            <a:ext cx="1828800" cy="548640"/>
          </a:xfrm>
          <a:prstGeom prst="rect">
            <a:avLst/>
          </a:prstGeom>
          <a:solidFill>
            <a:srgbClr val="02C39A"/>
          </a:solidFill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Calibri" pitchFamily="34" charset="0"/>
              </a:rPr>
              <a:t>Service Worker</a:t>
            </a:r>
          </a:p>
        </p:txBody>
      </p:sp>
      <p:sp>
        <p:nvSpPr>
          <p:cNvPr id="7" name="Arrow2"/>
          <p:cNvSpPr/>
          <p:nvPr/>
        </p:nvSpPr>
        <p:spPr>
          <a:xfrm>
            <a:off x="4846560" y="1600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2000" b="1" dirty="0">
                <a:solidFill>
                  <a:srgbClr val="1A1A2E"/>
                </a:solidFill>
                <a:latin typeface="Consolas" pitchFamily="34" charset="0"/>
              </a:rPr>
              <a:t>→</a:t>
            </a:r>
          </a:p>
        </p:txBody>
      </p:sp>
      <p:sp>
        <p:nvSpPr>
          <p:cNvPr id="8" name="Box3"/>
          <p:cNvSpPr/>
          <p:nvPr/>
        </p:nvSpPr>
        <p:spPr>
          <a:xfrm>
            <a:off x="5486880" y="1417320"/>
            <a:ext cx="2057400" cy="548640"/>
          </a:xfrm>
          <a:prstGeom prst="rect">
            <a:avLst/>
          </a:prstGeom>
          <a:solidFill>
            <a:srgbClr val="00A896"/>
          </a:solidFill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Calibri" pitchFamily="34" charset="0"/>
              </a:rPr>
              <a:t>MSW Handler ➜ Fake-Antwort</a:t>
            </a:r>
          </a:p>
        </p:txBody>
      </p:sp>
      <p:sp>
        <p:nvSpPr>
          <p:cNvPr id="9" name="FlowLabel"/>
          <p:cNvSpPr/>
          <p:nvPr/>
        </p:nvSpPr>
        <p:spPr>
          <a:xfrm>
            <a:off x="640080" y="2057400"/>
            <a:ext cx="69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100" i="1" dirty="0">
                <a:solidFill>
                  <a:srgbClr val="5A6B7B"/>
                </a:solidFill>
                <a:latin typeface="Calibri" pitchFamily="34" charset="0"/>
              </a:rPr>
              <a:t>Kein echter Server wird je erreicht – dein fetch()-Code bleibt 100% unverändert</a:t>
            </a:r>
          </a:p>
        </p:txBody>
      </p:sp>
      <p:sp>
        <p:nvSpPr>
          <p:cNvPr id="10" name="InfoLeft"/>
          <p:cNvSpPr/>
          <p:nvPr/>
        </p:nvSpPr>
        <p:spPr>
          <a:xfrm>
            <a:off x="640080" y="2468880"/>
            <a:ext cx="384048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1" name="InfoLeftBar"/>
          <p:cNvSpPr/>
          <p:nvPr/>
        </p:nvSpPr>
        <p:spPr>
          <a:xfrm>
            <a:off x="640080" y="2468880"/>
            <a:ext cx="3840480" cy="5486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InfoLeftText"/>
          <p:cNvSpPr/>
          <p:nvPr/>
        </p:nvSpPr>
        <p:spPr>
          <a:xfrm>
            <a:off x="868680" y="256032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b="1" dirty="0">
                <a:solidFill>
                  <a:srgbClr val="028090"/>
                </a:solidFill>
                <a:latin typeface="Consolas" pitchFamily="34" charset="0"/>
              </a:rPr>
              <a:t>Im Browser</a:t>
            </a:r>
          </a:p>
          <a:p>
            <a:pPr marL="0" indent="0">
              <a:lnSpc>
                <a:spcPct val="130000"/>
              </a:lnSpc>
              <a:spcBef>
                <a:spcPts val="300"/>
              </a:spcBef>
              <a:buNone/>
            </a:pPr>
            <a:r>
              <a:rPr lang="de-DE" sz="1200" dirty="0">
                <a:solidFill>
                  <a:srgbClr val="5A6B7B"/>
                </a:solidFill>
                <a:latin typeface="Calibri" pitchFamily="34" charset="0"/>
              </a:rPr>
              <a:t>MSW registriert einen echten Service Worker. Jeder fetch()-Aufruf läuft durch diesen Worker – er kann Anfragen abfangen und ersetzen bevor sie den Server erreichen.</a:t>
            </a:r>
          </a:p>
        </p:txBody>
      </p:sp>
      <p:sp>
        <p:nvSpPr>
          <p:cNvPr id="13" name="InfoRight"/>
          <p:cNvSpPr/>
          <p:nvPr/>
        </p:nvSpPr>
        <p:spPr>
          <a:xfrm>
            <a:off x="4663200" y="2468880"/>
            <a:ext cx="384048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InfoRightBar"/>
          <p:cNvSpPr/>
          <p:nvPr/>
        </p:nvSpPr>
        <p:spPr>
          <a:xfrm>
            <a:off x="4663200" y="2468880"/>
            <a:ext cx="384048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InfoRightText"/>
          <p:cNvSpPr/>
          <p:nvPr/>
        </p:nvSpPr>
        <p:spPr>
          <a:xfrm>
            <a:off x="4891800" y="256032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b="1" dirty="0">
                <a:solidFill>
                  <a:srgbClr val="02C39A"/>
                </a:solidFill>
                <a:latin typeface="Consolas" pitchFamily="34" charset="0"/>
              </a:rPr>
              <a:t>In Tests (Node.js)</a:t>
            </a:r>
          </a:p>
          <a:p>
            <a:pPr marL="0" indent="0">
              <a:lnSpc>
                <a:spcPct val="130000"/>
              </a:lnSpc>
              <a:spcBef>
                <a:spcPts val="300"/>
              </a:spcBef>
              <a:buNone/>
            </a:pPr>
            <a:r>
              <a:rPr lang="de-DE" sz="1200" dirty="0">
                <a:solidFill>
                  <a:srgbClr val="5A6B7B"/>
                </a:solidFill>
                <a:latin typeface="Calibri" pitchFamily="34" charset="0"/>
              </a:rPr>
              <a:t>Kein Service Worker nötig. MSW hängt sich direkt in den Node.js-Netzwerk-Layer ein. Vitest und Jest nutzen einfach setupServer() – fertig.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MSW Handler definieren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Handler beschreibt: Welche URL abgefangen wird und was zurückkommt.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7863840" cy="30175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handlers.js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7315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http, HttpResponse } from 'msw'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const handlers = [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GET /api/products → Fake-Produkte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http.get('/api/products', () =&gt; {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HttpResponse.json([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id: 1, name: 'Laptop', preis: 999 },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id: 2, name: 'Maus',   preis: 29  },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])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Fehler simulieren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MSW kannst du gezielt testen, wie deine App auf Serverfehler reagiert.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7863840" cy="20116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error-handler.js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http.get('/api/products', () =&gt; {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new HttpResponse(null, {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status: 500,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statusText: 'Internal Server Error'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78638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73152" cy="9144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41648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8760" y="39319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Mocking kannst du 500-Fehler nur testen, wenn das Backend wirklich ausfällt.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MSW macht Fehlerfälle jederzeit reproduzierbar.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03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Warum keine echten API-Anfragen in Tests?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1554480"/>
          </a:xfrm>
          <a:prstGeom prst="rect">
            <a:avLst/>
          </a:prstGeom>
          <a:solidFill>
            <a:srgbClr val="F8FAFC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64008" cy="1554480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77240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⏱  Langsam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Netzwerk-Round-Trips addieren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 zu Minuten bei großen Suites.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1554480"/>
          </a:xfrm>
          <a:prstGeom prst="rect">
            <a:avLst/>
          </a:prstGeom>
          <a:solidFill>
            <a:srgbClr val="F8FAFC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64008" cy="155448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983480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💥  Flaky / Instabil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17830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offline oder langsam?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</a:t>
            </a:r>
            <a:r>
              <a:rPr lang="en-US" sz="13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schlägt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obwohl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Code OK.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3840480" cy="1554480"/>
          </a:xfrm>
          <a:prstGeom prst="rect">
            <a:avLst/>
          </a:prstGeom>
          <a:solidFill>
            <a:srgbClr val="F8FAFC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64008" cy="1554480"/>
          </a:xfrm>
          <a:prstGeom prst="rect">
            <a:avLst/>
          </a:prstGeom>
          <a:solidFill>
            <a:srgbClr val="646CF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77240" y="3154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🗃  Daten-Verschmutzung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Testläufe verändern die DB.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beeinflussen sich gegenseitig.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3017520"/>
            <a:ext cx="3840480" cy="1554480"/>
          </a:xfrm>
          <a:prstGeom prst="rect">
            <a:avLst/>
          </a:prstGeom>
          <a:solidFill>
            <a:srgbClr val="F8FAFC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64008" cy="15544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4983480" y="3154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🎛  Keine Kontrolle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83480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Fehlerfälle (500, Timeout) lassen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 kaum reproduzierbar testen.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663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6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Lösung: Netzwerkanfragen mocken – schnell, deterministisch, unabhängig.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03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MSW vs. direktes Mocken von fetch / axios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FEF2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50292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640080" y="1143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 Klassisch: jest.spyOn / axios-Mock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Ersetzt die Implementierung von fetch() oder axios direkt im Code.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Probleme: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Middleware, Interceptors und Header werden übersprungen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 Kopplung an die Implementierung (fetch vs. axios)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jeden Test-Runner separate Mock-Logik nötig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echte Netzwerk-Code wird nicht getestet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F0FDF4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50292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937760" y="1143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MSW: Mocking auf Netzwerkebene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Fängt Anfragen im Service Worker / Node-Interceptor ab – vor dem Netzwerk.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Vorteile: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fetch()-Aufruf bleibt original – keine Patches nötig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Middleware, Header, Request/Response bleiben intakt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 Handler für alle Umgebungen (Browser + Node)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Unabhängig davon, ob fetch oder axios genutzt wird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663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6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MSW testet den echten Code-Pfad – nur die Antwort ist gefälscht.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03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Was passiert, wenn die Backend-API offline geht?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2194560"/>
          </a:xfrm>
          <a:prstGeom prst="rect">
            <a:avLst/>
          </a:prstGeom>
          <a:solidFill>
            <a:srgbClr val="FEF2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64008" cy="219456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Ohne MSW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fetch() sendet echte Anfrage → Timeout / ECONNREFUSED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Tests die das Backend brauchen schlagen fehl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CI/CD-Pipeline blockiert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Entwickler können nicht lokal arbeiten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2194560"/>
          </a:xfrm>
          <a:prstGeom prst="rect">
            <a:avLst/>
          </a:prstGeom>
          <a:solidFill>
            <a:srgbClr val="F0FDF4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64008" cy="219456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 MSW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Anfrage wird abgefangen bevor sie das Netzwerk erreicht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liefert sofort die Mock-Antwort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Netzwerk nötig → Tests laufen immer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Auch offline-fähige Entwicklung möglich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8229600" cy="1097280"/>
          </a:xfrm>
          <a:prstGeom prst="rect">
            <a:avLst/>
          </a:prstGeom>
          <a:solidFill>
            <a:srgbClr val="F8FAFC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645920" cy="731520"/>
          </a:xfrm>
          <a:prstGeom prst="rect">
            <a:avLst/>
          </a:prstGeom>
          <a:solidFill>
            <a:srgbClr val="2B2E4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31520" y="393192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ruft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fetch() auf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77440" y="3931920"/>
            <a:ext cx="411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788920" y="3931920"/>
            <a:ext cx="1645920" cy="731520"/>
          </a:xfrm>
          <a:prstGeom prst="rect">
            <a:avLst/>
          </a:prstGeom>
          <a:solidFill>
            <a:srgbClr val="646CF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2788920" y="393192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MSW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34840" y="3931920"/>
            <a:ext cx="411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846320" y="3931920"/>
            <a:ext cx="1645920" cy="7315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4846320" y="393192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matcht URL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3931920"/>
            <a:ext cx="411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903720" y="3931920"/>
            <a:ext cx="1645920" cy="73152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6903720" y="393192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Response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zurückgegeben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solidFill>
            <a:srgbClr val="2B2E44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640080" y="12161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Erfolg – 200 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MSW Handler liefert fakeProducts zurück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Komponente zeigt Tabelle mit 5 Produkten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Preise, Kategorien, Verfügbarkeit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Gleicher fetch()-Code wie in Production!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3200400"/>
          </a:xfrm>
          <a:prstGeom prst="rect">
            <a:avLst/>
          </a:prstGeom>
          <a:solidFill>
            <a:srgbClr val="2B2E44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4937760" y="12161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 Fehler – 500 Error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78308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MSW Handler liefert 500 Status zurück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Komponente zeigt Fehlermeldung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Keine Tabelle sichtbar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testbar ohne Server-Absturz!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617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46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Jetzt zeigen wir die laufende App im Browser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Unsere Tests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solidFill>
            <a:srgbClr val="2B2E4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548640" cy="27432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9601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zeigt Ladeindikator während des Fetch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solidFill>
            <a:srgbClr val="2B2E4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548640" cy="27432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640080" y="16459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71600" y="15544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zeigt Produkte bei erfolgreicher API-Antwort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solidFill>
            <a:srgbClr val="2B2E4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Shape 10"/>
          <p:cNvSpPr/>
          <p:nvPr/>
        </p:nvSpPr>
        <p:spPr>
          <a:xfrm>
            <a:off x="640080" y="2240280"/>
            <a:ext cx="548640" cy="27432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640080" y="22402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21488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zeigt Preise korrekt formatiert 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solidFill>
            <a:srgbClr val="2B2E4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6" name="Shape 14"/>
          <p:cNvSpPr/>
          <p:nvPr/>
        </p:nvSpPr>
        <p:spPr>
          <a:xfrm>
            <a:off x="640080" y="2834640"/>
            <a:ext cx="548640" cy="27432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40080" y="2834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371600" y="27432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zeigt Verfügbarkeit korrekt 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8229600" cy="457200"/>
          </a:xfrm>
          <a:prstGeom prst="rect">
            <a:avLst/>
          </a:prstGeom>
          <a:solidFill>
            <a:srgbClr val="2B2E4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Shape 18"/>
          <p:cNvSpPr/>
          <p:nvPr/>
        </p:nvSpPr>
        <p:spPr>
          <a:xfrm>
            <a:off x="640080" y="3429000"/>
            <a:ext cx="548640" cy="27432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640080" y="34290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zeigt Fehlermeldung bei 500 Internal Server Error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solidFill>
            <a:srgbClr val="2B2E4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4" name="Shape 22"/>
          <p:cNvSpPr/>
          <p:nvPr/>
        </p:nvSpPr>
        <p:spPr>
          <a:xfrm>
            <a:off x="640080" y="4023360"/>
            <a:ext cx="548640" cy="27432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640080" y="4023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371600" y="39319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zeigt keine Produkttabelle bei Server-Fehler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646CF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server.use(errorHandler) → überschreibt Handler temporär für einzelne Tests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46CF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685800"/>
          </a:xfrm>
          <a:prstGeom prst="rect">
            <a:avLst/>
          </a:prstGeom>
          <a:solidFill>
            <a:srgbClr val="2B2E44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777240" y="1389888"/>
            <a:ext cx="457200" cy="457200"/>
          </a:xfrm>
          <a:prstGeom prst="ellipse">
            <a:avLst/>
          </a:prstGeom>
          <a:solidFill>
            <a:srgbClr val="646CF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77240" y="1389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28016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API-Anfragen in Tests → langsam, flaky, unkontrollierbar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8046720" cy="685800"/>
          </a:xfrm>
          <a:prstGeom prst="rect">
            <a:avLst/>
          </a:prstGeom>
          <a:solidFill>
            <a:srgbClr val="2B2E44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7"/>
          <p:cNvSpPr/>
          <p:nvPr/>
        </p:nvSpPr>
        <p:spPr>
          <a:xfrm>
            <a:off x="777240" y="2258568"/>
            <a:ext cx="457200" cy="457200"/>
          </a:xfrm>
          <a:prstGeom prst="ellipse">
            <a:avLst/>
          </a:prstGeom>
          <a:solidFill>
            <a:srgbClr val="646CF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777240" y="2258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14884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MSW mockt auf Netzwerkebene → echter Code-Pfad wird getestet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8046720" cy="685800"/>
          </a:xfrm>
          <a:prstGeom prst="rect">
            <a:avLst/>
          </a:prstGeom>
          <a:solidFill>
            <a:srgbClr val="2B2E44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777240" y="3127248"/>
            <a:ext cx="457200" cy="457200"/>
          </a:xfrm>
          <a:prstGeom prst="ellipse">
            <a:avLst/>
          </a:prstGeom>
          <a:solidFill>
            <a:srgbClr val="646CF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77240" y="3127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0175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offline? Kein Problem – MSW braucht kein Netzwerk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77240" y="64236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642366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 geschriebene Handler für Tests, E2E und lokale Entwicklung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46C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1710F1-783C-4B41-D281-98184C006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9F3D272-FFEA-E118-9A9F-CEC0FB9B34B2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46CF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9CAB218-2A79-8210-34AA-41F78690A7DB}"/>
              </a:ext>
            </a:extLst>
          </p:cNvPr>
          <p:cNvSpPr/>
          <p:nvPr/>
        </p:nvSpPr>
        <p:spPr>
          <a:xfrm>
            <a:off x="1234440" y="242773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</a:rPr>
              <a:t>Danke für </a:t>
            </a: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</a:rPr>
              <a:t>eure</a:t>
            </a: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</a:rPr>
              <a:t> </a:t>
            </a: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</a:rPr>
              <a:t>Aufmerksamkeit</a:t>
            </a:r>
            <a:endParaRPr lang="en-US" sz="3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90D8DE7-8D0E-D808-DA87-F007C20EAE39}"/>
              </a:ext>
            </a:extLst>
          </p:cNvPr>
          <p:cNvSpPr/>
          <p:nvPr/>
        </p:nvSpPr>
        <p:spPr>
          <a:xfrm>
            <a:off x="777240" y="1389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FED6768-3902-1C4F-2598-CAC54103E1B8}"/>
              </a:ext>
            </a:extLst>
          </p:cNvPr>
          <p:cNvSpPr/>
          <p:nvPr/>
        </p:nvSpPr>
        <p:spPr>
          <a:xfrm>
            <a:off x="2072640" y="-12115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API-Anfragen in Tests → langsam, flaky, unkontrollierbar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D4D3C59-477E-593C-8CFD-528A94F91B49}"/>
              </a:ext>
            </a:extLst>
          </p:cNvPr>
          <p:cNvSpPr/>
          <p:nvPr/>
        </p:nvSpPr>
        <p:spPr>
          <a:xfrm>
            <a:off x="603504" y="-731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5078F87-689D-FA24-7DB7-DD648BFB5C2F}"/>
              </a:ext>
            </a:extLst>
          </p:cNvPr>
          <p:cNvSpPr/>
          <p:nvPr/>
        </p:nvSpPr>
        <p:spPr>
          <a:xfrm>
            <a:off x="1645920" y="-60579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MSW mockt auf Netzwerkebene → echter Code-Pfad wird getestet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8CFCBB5-82AA-07CB-EB94-11C5FFC99F11}"/>
              </a:ext>
            </a:extLst>
          </p:cNvPr>
          <p:cNvSpPr/>
          <p:nvPr/>
        </p:nvSpPr>
        <p:spPr>
          <a:xfrm>
            <a:off x="146304" y="53903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633DF47-65CC-0452-CB2D-44FF2579D78D}"/>
              </a:ext>
            </a:extLst>
          </p:cNvPr>
          <p:cNvSpPr/>
          <p:nvPr/>
        </p:nvSpPr>
        <p:spPr>
          <a:xfrm>
            <a:off x="1188720" y="51435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offline? Kein Problem – MSW braucht kein Netzwerk</a:t>
            </a:r>
            <a:endParaRPr lang="en-US" sz="1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968CA25-BEE7-DC10-0B62-7CB56686FADC}"/>
              </a:ext>
            </a:extLst>
          </p:cNvPr>
          <p:cNvSpPr/>
          <p:nvPr/>
        </p:nvSpPr>
        <p:spPr>
          <a:xfrm>
            <a:off x="777240" y="64236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DF3DE85-817C-E7B4-F3D9-2FEA650839B2}"/>
              </a:ext>
            </a:extLst>
          </p:cNvPr>
          <p:cNvSpPr/>
          <p:nvPr/>
        </p:nvSpPr>
        <p:spPr>
          <a:xfrm>
            <a:off x="1645920" y="642366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 geschriebene Handler für Tests, E2E und lokale Entwicklung</a:t>
            </a:r>
            <a:endParaRPr lang="en-US" sz="16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51D7ECC-5AD6-3C01-930E-F68A9324B11F}"/>
              </a:ext>
            </a:extLst>
          </p:cNvPr>
          <p:cNvSpPr/>
          <p:nvPr/>
        </p:nvSpPr>
        <p:spPr>
          <a:xfrm>
            <a:off x="54864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159422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946</Words>
  <Application>Microsoft Office PowerPoint</Application>
  <PresentationFormat>Bildschirmpräsentation (16:9)</PresentationFormat>
  <Paragraphs>180</Paragraphs>
  <Slides>13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Trebuchet MS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API-Mocking mit MSW</dc:title>
  <dc:subject>PptxGenJS Presentation</dc:subject>
  <dc:creator>Gruppe 3</dc:creator>
  <cp:lastModifiedBy>Öztürk Emirhan</cp:lastModifiedBy>
  <cp:revision>3</cp:revision>
  <dcterms:created xsi:type="dcterms:W3CDTF">2026-03-12T07:41:51Z</dcterms:created>
  <dcterms:modified xsi:type="dcterms:W3CDTF">2026-03-12T08:02:47Z</dcterms:modified>
</cp:coreProperties>
</file>