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70" r:id="rId3"/>
    <p:sldId id="257" r:id="rId4"/>
    <p:sldId id="258" r:id="rId5"/>
    <p:sldId id="259" r:id="rId6"/>
    <p:sldId id="271" r:id="rId7"/>
    <p:sldId id="272" r:id="rId8"/>
    <p:sldId id="260" r:id="rId9"/>
    <p:sldId id="261" r:id="rId10"/>
    <p:sldId id="262" r:id="rId11"/>
    <p:sldId id="263" r:id="rId12"/>
    <p:sldId id="273" r:id="rId13"/>
    <p:sldId id="264" r:id="rId14"/>
    <p:sldId id="274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7" d="100"/>
          <a:sy n="57" d="100"/>
        </p:scale>
        <p:origin x="100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2378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" name="Shape 1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02C39A">
              <a:alpha val="20000"/>
            </a:srgbClr>
          </a:solidFill>
          <a:ln/>
        </p:spPr>
        <p:txBody>
          <a:bodyPr/>
          <a:lstStyle/>
          <a:p>
            <a:endParaRPr lang="de-AT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9728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8288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Die Netzwerkgrenze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31520" y="2606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API-Mocking mit Mock Service Worker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31520" y="3291840"/>
            <a:ext cx="1828800" cy="5486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8" name="Text 5"/>
          <p:cNvSpPr/>
          <p:nvPr/>
        </p:nvSpPr>
        <p:spPr>
          <a:xfrm>
            <a:off x="731520" y="3657599"/>
            <a:ext cx="3092335" cy="831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Gruppe 3 –Kriener Timo, Leber Simon, Öztürk Emirhan, Aleksic Lazar, </a:t>
            </a:r>
            <a:r>
              <a:rPr lang="en-US" sz="1600" dirty="0" err="1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Nesic</a:t>
            </a:r>
            <a:r>
              <a:rPr lang="en-US" sz="16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Nemanja, Basra Prince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as ist Mocking?">
    <p:bg>
      <p:bgPr>
        <a:solidFill>
          <a:srgbClr val="F0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3200" b="1" dirty="0">
                <a:solidFill>
                  <a:srgbClr val="1A1A2E"/>
                </a:solidFill>
                <a:latin typeface="Consolas" pitchFamily="34" charset="0"/>
              </a:rPr>
              <a:t>Was ist Mocking?</a:t>
            </a:r>
          </a:p>
        </p:txBody>
      </p:sp>
      <p:sp>
        <p:nvSpPr>
          <p:cNvPr id="3" name="LeftCard"/>
          <p:cNvSpPr/>
          <p:nvPr/>
        </p:nvSpPr>
        <p:spPr>
          <a:xfrm>
            <a:off x="640080" y="1188720"/>
            <a:ext cx="384048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4" name="LeftBar"/>
          <p:cNvSpPr/>
          <p:nvPr/>
        </p:nvSpPr>
        <p:spPr>
          <a:xfrm>
            <a:off x="640080" y="1188720"/>
            <a:ext cx="3840480" cy="7315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5" name="LeftHeader"/>
          <p:cNvSpPr/>
          <p:nvPr/>
        </p:nvSpPr>
        <p:spPr>
          <a:xfrm>
            <a:off x="868680" y="13716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800" b="1" dirty="0">
                <a:solidFill>
                  <a:srgbClr val="028090"/>
                </a:solidFill>
                <a:latin typeface="Consolas" pitchFamily="34" charset="0"/>
              </a:rPr>
              <a:t>Die Grundidee</a:t>
            </a:r>
          </a:p>
        </p:txBody>
      </p:sp>
      <p:sp>
        <p:nvSpPr>
          <p:cNvPr id="6" name="LeftBody"/>
          <p:cNvSpPr/>
          <p:nvPr/>
        </p:nvSpPr>
        <p:spPr>
          <a:xfrm>
            <a:off x="868680" y="1966680"/>
            <a:ext cx="3383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de-DE" sz="1300" dirty="0">
                <a:solidFill>
                  <a:srgbClr val="1A1A2E"/>
                </a:solidFill>
                <a:latin typeface="Calibri" pitchFamily="34" charset="0"/>
              </a:rPr>
              <a:t>Mocking = echte Sache durch eine Falschung ersetzen, um sie kontrollieren zu konnen.</a:t>
            </a:r>
          </a:p>
          <a:p>
            <a:pPr marL="0" indent="0">
              <a:lnSpc>
                <a:spcPct val="130000"/>
              </a:lnSpc>
              <a:spcBef>
                <a:spcPts val="500"/>
              </a:spcBef>
              <a:buNone/>
            </a:pPr>
            <a:r>
              <a:rPr lang="de-DE" sz="1300" b="1" dirty="0">
                <a:solidFill>
                  <a:srgbClr val="028090"/>
                </a:solidFill>
                <a:latin typeface="Calibri" pitchFamily="34" charset="0"/>
              </a:rPr>
              <a:t>Real-Life Beispiel: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de-DE" sz="1300" dirty="0">
                <a:solidFill>
                  <a:srgbClr val="5A6B7B"/>
                </a:solidFill>
                <a:latin typeface="Calibri" pitchFamily="34" charset="0"/>
              </a:rPr>
              <a:t>Crashtest-Dummy statt echtem Menschen. Der Autohersteller testet den Crash ohne jemanden zu verletzen. Die Umgebung ist real, nur das Objekt ist Fake.</a:t>
            </a:r>
          </a:p>
        </p:txBody>
      </p:sp>
      <p:sp>
        <p:nvSpPr>
          <p:cNvPr id="7" name="RightCard"/>
          <p:cNvSpPr/>
          <p:nvPr/>
        </p:nvSpPr>
        <p:spPr>
          <a:xfrm>
            <a:off x="4663200" y="1188720"/>
            <a:ext cx="384048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8" name="RightBar"/>
          <p:cNvSpPr/>
          <p:nvPr/>
        </p:nvSpPr>
        <p:spPr>
          <a:xfrm>
            <a:off x="4663200" y="1188720"/>
            <a:ext cx="3840480" cy="7315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9" name="RightHeader"/>
          <p:cNvSpPr/>
          <p:nvPr/>
        </p:nvSpPr>
        <p:spPr>
          <a:xfrm>
            <a:off x="4891800" y="13716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800" b="1" dirty="0">
                <a:solidFill>
                  <a:srgbClr val="02C39A"/>
                </a:solidFill>
                <a:latin typeface="Consolas" pitchFamily="34" charset="0"/>
              </a:rPr>
              <a:t>In der Softwareentwicklung</a:t>
            </a:r>
          </a:p>
        </p:txBody>
      </p:sp>
      <p:sp>
        <p:nvSpPr>
          <p:cNvPr id="10" name="RightBody"/>
          <p:cNvSpPr/>
          <p:nvPr/>
        </p:nvSpPr>
        <p:spPr>
          <a:xfrm>
            <a:off x="4891800" y="1966680"/>
            <a:ext cx="3383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de-DE" sz="1300" dirty="0">
                <a:solidFill>
                  <a:srgbClr val="1A1A2E"/>
                </a:solidFill>
                <a:latin typeface="Calibri" pitchFamily="34" charset="0"/>
              </a:rPr>
              <a:t>Du ersetzt echte Abhängigkeiten (Datenbank, API, Server) durch kontrollierte Fake-Versionen.</a:t>
            </a:r>
          </a:p>
          <a:p>
            <a:pPr marL="0" indent="0">
              <a:lnSpc>
                <a:spcPct val="130000"/>
              </a:lnSpc>
              <a:spcBef>
                <a:spcPts val="500"/>
              </a:spcBef>
              <a:buNone/>
            </a:pPr>
            <a:r>
              <a:rPr lang="de-DE" sz="1300" b="1" dirty="0">
                <a:solidFill>
                  <a:srgbClr val="02C39A"/>
                </a:solidFill>
                <a:latin typeface="Calibri" pitchFamily="34" charset="0"/>
              </a:rPr>
              <a:t>Warum mocking?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de-DE" sz="1300" dirty="0">
                <a:solidFill>
                  <a:srgbClr val="5A6B7B"/>
                </a:solidFill>
                <a:latin typeface="Calibri" pitchFamily="34" charset="0"/>
              </a:rPr>
              <a:t>✓ Schneller testen ohne echten Server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de-DE" sz="1300" dirty="0">
                <a:solidFill>
                  <a:srgbClr val="5A6B7B"/>
                </a:solidFill>
                <a:latin typeface="Calibri" pitchFamily="34" charset="0"/>
              </a:rPr>
              <a:t>✓ Fehlerfälle auf Knopfdruck simulieren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de-DE" sz="1300" dirty="0">
                <a:solidFill>
                  <a:srgbClr val="5A6B7B"/>
                </a:solidFill>
                <a:latin typeface="Calibri" pitchFamily="34" charset="0"/>
              </a:rPr>
              <a:t>✓ Frontend entwickeln, auch wenn Backend noch nicht fertig ist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Was ist API-Mocking?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475488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50876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5087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 Konzept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914400" y="2103120"/>
            <a:ext cx="4206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API-Mocking bedeutet, echte Server-Antworten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durch simulierte (gefälschte) Daten zu ersetzen.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Deine App denkt, sie redet mit dem echten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– aber die Antworten kommen von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einem Mock-Handler, den du definierst.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669280" y="1280160"/>
            <a:ext cx="301752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8" name="Shape 5"/>
          <p:cNvSpPr/>
          <p:nvPr/>
        </p:nvSpPr>
        <p:spPr>
          <a:xfrm>
            <a:off x="6217920" y="1554480"/>
            <a:ext cx="1920240" cy="5029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9" name="Text 6"/>
          <p:cNvSpPr/>
          <p:nvPr/>
        </p:nvSpPr>
        <p:spPr>
          <a:xfrm>
            <a:off x="6217920" y="15544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Deine App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943600" y="21488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 fetch('/api/products')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217920" y="2560320"/>
            <a:ext cx="1920240" cy="5029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2" name="Text 9"/>
          <p:cNvSpPr/>
          <p:nvPr/>
        </p:nvSpPr>
        <p:spPr>
          <a:xfrm>
            <a:off x="6217920" y="25603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MSW fängt ab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943600" y="3154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 Fake-Antwort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217920" y="3566160"/>
            <a:ext cx="1920240" cy="50292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5" name="Text 12"/>
          <p:cNvSpPr/>
          <p:nvPr/>
        </p:nvSpPr>
        <p:spPr>
          <a:xfrm>
            <a:off x="6217920" y="35661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Mock-Daten ✓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Warum nicht echte APIs testen?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2560320" cy="73152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de-AT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169164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3317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Langsam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68680" y="28346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Echte API-Aufrufe brauchen Zeit.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werden langsam und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unzuverlässig.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474720" y="137160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9" name="Shape 6"/>
          <p:cNvSpPr/>
          <p:nvPr/>
        </p:nvSpPr>
        <p:spPr>
          <a:xfrm>
            <a:off x="3474720" y="1371600"/>
            <a:ext cx="2560320" cy="73152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de-AT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169164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74720" y="23317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Fragil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3703320" y="28346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offline? Datenbank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geändert? Deine Tests brechen –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ohne dass dein Code falsch ist.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309360" y="137160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14" name="Shape 10"/>
          <p:cNvSpPr/>
          <p:nvPr/>
        </p:nvSpPr>
        <p:spPr>
          <a:xfrm>
            <a:off x="6309360" y="1371600"/>
            <a:ext cx="2560320" cy="73152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de-AT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9480" y="1691640"/>
            <a:ext cx="502920" cy="5029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09360" y="23317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Unkontrollierbar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6537960" y="28346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kannst Fehlerfälle (500er,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Timeouts) nicht gezielt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provozieren.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Mock Service Worker (MSW)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78638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3152" cy="146304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de-AT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4173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132588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MSW ist eine Library, die Netzwerk-Anfragen auf der Service-Worker-Ebene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abfängt – also bevor sie den echten Server erreichen.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645920" y="201168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Dein Code (fetch, axios) bleibt unverändert. MSW sitzt dazwischen.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2926080"/>
            <a:ext cx="37490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9" name="Shape 6"/>
          <p:cNvSpPr/>
          <p:nvPr/>
        </p:nvSpPr>
        <p:spPr>
          <a:xfrm>
            <a:off x="640080" y="2926080"/>
            <a:ext cx="3749040" cy="73152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0" name="Text 7"/>
          <p:cNvSpPr/>
          <p:nvPr/>
        </p:nvSpPr>
        <p:spPr>
          <a:xfrm>
            <a:off x="868680" y="31546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Alte Methode: jest.spyOn / Mock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68680" y="361188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Überschreibt fetch/axios direkt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Testet nicht den echten Netzwerk-Pfad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Fehleranfällig bei Refactoring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754880" y="2926080"/>
            <a:ext cx="37490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13" name="Shape 10"/>
          <p:cNvSpPr/>
          <p:nvPr/>
        </p:nvSpPr>
        <p:spPr>
          <a:xfrm>
            <a:off x="4754880" y="2926080"/>
            <a:ext cx="3749040" cy="7315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4" name="Text 11"/>
          <p:cNvSpPr/>
          <p:nvPr/>
        </p:nvSpPr>
        <p:spPr>
          <a:xfrm>
            <a:off x="4983480" y="31546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MSW: Netzwerk-Ebene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983480" y="361188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Fängt Requests auf Netzwerk-Ebene ab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Dein fetch-Code bleibt original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Realistischere Tests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SW vs jest.spyOn">
    <p:bg>
      <p:bgPr>
        <a:solidFill>
          <a:srgbClr val="F0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3200" b="1" dirty="0">
                <a:solidFill>
                  <a:srgbClr val="1A1A2E"/>
                </a:solidFill>
                <a:latin typeface="Consolas" pitchFamily="34" charset="0"/>
              </a:rPr>
              <a:t>MSW vs. jest.spyOn – Der Unterschied</a:t>
            </a:r>
          </a:p>
        </p:txBody>
      </p:sp>
      <p:sp>
        <p:nvSpPr>
          <p:cNvPr id="3" name="OldCard"/>
          <p:cNvSpPr/>
          <p:nvPr/>
        </p:nvSpPr>
        <p:spPr>
          <a:xfrm>
            <a:off x="640080" y="960120"/>
            <a:ext cx="384048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4" name="OldBar"/>
          <p:cNvSpPr/>
          <p:nvPr/>
        </p:nvSpPr>
        <p:spPr>
          <a:xfrm>
            <a:off x="640080" y="960120"/>
            <a:ext cx="3840480" cy="73152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5" name="OldHeader"/>
          <p:cNvSpPr/>
          <p:nvPr/>
        </p:nvSpPr>
        <p:spPr>
          <a:xfrm>
            <a:off x="868680" y="10972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800" b="1" dirty="0">
                <a:solidFill>
                  <a:srgbClr val="E74C3C"/>
                </a:solidFill>
                <a:latin typeface="Consolas" pitchFamily="34" charset="0"/>
              </a:rPr>
              <a:t>❌ Alte Methode: jest.spyOn</a:t>
            </a:r>
          </a:p>
        </p:txBody>
      </p:sp>
      <p:sp>
        <p:nvSpPr>
          <p:cNvPr id="6" name="OldBody"/>
          <p:cNvSpPr/>
          <p:nvPr/>
        </p:nvSpPr>
        <p:spPr>
          <a:xfrm>
            <a:off x="868680" y="1691640"/>
            <a:ext cx="3383280" cy="265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de-DE" sz="1200" dirty="0">
                <a:solidFill>
                  <a:srgbClr val="5A6B7B"/>
                </a:solidFill>
                <a:latin typeface="Calibri" pitchFamily="34" charset="0"/>
              </a:rPr>
              <a:t>Du überschreibst fetch() direkt im Code. Dein Test umgeht den echten Netzwerk-Pfad komplett.</a:t>
            </a:r>
          </a:p>
          <a:p>
            <a:pPr marL="0" indent="0">
              <a:lnSpc>
                <a:spcPct val="130000"/>
              </a:lnSpc>
              <a:spcBef>
                <a:spcPts val="400"/>
              </a:spcBef>
              <a:buNone/>
            </a:pPr>
            <a:r>
              <a:rPr lang="de-DE" sz="1200" dirty="0">
                <a:solidFill>
                  <a:srgbClr val="E74C3C"/>
                </a:solidFill>
                <a:latin typeface="Calibri" pitchFamily="34" charset="0"/>
              </a:rPr>
              <a:t>Probleme: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de-DE" sz="1200" dirty="0">
                <a:solidFill>
                  <a:srgbClr val="5A6B7B"/>
                </a:solidFill>
                <a:latin typeface="Calibri" pitchFamily="34" charset="0"/>
              </a:rPr>
              <a:t>✗ Wechselst du von fetch zu axios? Alle Mocks brechen sofort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de-DE" sz="1200" dirty="0">
                <a:solidFill>
                  <a:srgbClr val="5A6B7B"/>
                </a:solidFill>
                <a:latin typeface="Calibri" pitchFamily="34" charset="0"/>
              </a:rPr>
              <a:t>✗ Testet nicht den echten Netzwerk-Code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de-DE" sz="1200" dirty="0">
                <a:solidFill>
                  <a:srgbClr val="5A6B7B"/>
                </a:solidFill>
                <a:latin typeface="Calibri" pitchFamily="34" charset="0"/>
              </a:rPr>
              <a:t>✗ Fehleranfällig bei Refactoring</a:t>
            </a:r>
          </a:p>
          <a:p>
            <a:pPr marL="0" indent="0">
              <a:lnSpc>
                <a:spcPct val="130000"/>
              </a:lnSpc>
              <a:spcBef>
                <a:spcPts val="400"/>
              </a:spcBef>
              <a:buNone/>
            </a:pPr>
            <a:r>
              <a:rPr lang="de-DE" sz="1100" i="1" dirty="0">
                <a:solidFill>
                  <a:srgbClr val="5A6B7B"/>
                </a:solidFill>
                <a:latin typeface="Calibri" pitchFamily="34" charset="0"/>
              </a:rPr>
              <a:t>Wie ein Schauspieler der den Pizzaboten spielt – die Pizza kommt nie wirklich an.</a:t>
            </a:r>
          </a:p>
        </p:txBody>
      </p:sp>
      <p:sp>
        <p:nvSpPr>
          <p:cNvPr id="7" name="MSWCard"/>
          <p:cNvSpPr/>
          <p:nvPr/>
        </p:nvSpPr>
        <p:spPr>
          <a:xfrm>
            <a:off x="4663200" y="960120"/>
            <a:ext cx="384048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8" name="MSWBar"/>
          <p:cNvSpPr/>
          <p:nvPr/>
        </p:nvSpPr>
        <p:spPr>
          <a:xfrm>
            <a:off x="4663200" y="960120"/>
            <a:ext cx="3840480" cy="7315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9" name="MSWHeader"/>
          <p:cNvSpPr/>
          <p:nvPr/>
        </p:nvSpPr>
        <p:spPr>
          <a:xfrm>
            <a:off x="4891800" y="10972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800" b="1" dirty="0">
                <a:solidFill>
                  <a:srgbClr val="02C39A"/>
                </a:solidFill>
                <a:latin typeface="Consolas" pitchFamily="34" charset="0"/>
              </a:rPr>
              <a:t>✔ MSW: Netzwerk-Ebene</a:t>
            </a:r>
          </a:p>
        </p:txBody>
      </p:sp>
      <p:sp>
        <p:nvSpPr>
          <p:cNvPr id="10" name="MSWBody"/>
          <p:cNvSpPr/>
          <p:nvPr/>
        </p:nvSpPr>
        <p:spPr>
          <a:xfrm>
            <a:off x="4891800" y="1691640"/>
            <a:ext cx="3383280" cy="265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de-DE" sz="1200" dirty="0">
                <a:solidFill>
                  <a:srgbClr val="5A6B7B"/>
                </a:solidFill>
                <a:latin typeface="Calibri" pitchFamily="34" charset="0"/>
              </a:rPr>
              <a:t>MSW fängt den Request auf Netzwerk-Ebene ab. Dein fetch()-Code läuft ganz normal – MSW sitzt unsichtbar dazwischen.</a:t>
            </a:r>
          </a:p>
          <a:p>
            <a:pPr marL="0" indent="0">
              <a:lnSpc>
                <a:spcPct val="130000"/>
              </a:lnSpc>
              <a:spcBef>
                <a:spcPts val="400"/>
              </a:spcBef>
              <a:buNone/>
            </a:pPr>
            <a:r>
              <a:rPr lang="de-DE" sz="1200" dirty="0">
                <a:solidFill>
                  <a:srgbClr val="02C39A"/>
                </a:solidFill>
                <a:latin typeface="Calibri" pitchFamily="34" charset="0"/>
              </a:rPr>
              <a:t>Vorteile: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de-DE" sz="1200" dirty="0">
                <a:solidFill>
                  <a:srgbClr val="5A6B7B"/>
                </a:solidFill>
                <a:latin typeface="Calibri" pitchFamily="34" charset="0"/>
              </a:rPr>
              <a:t>✓ Bibliotheksunabhängig (fetch, axios, ky – alles egal)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de-DE" sz="1200" dirty="0">
                <a:solidFill>
                  <a:srgbClr val="5A6B7B"/>
                </a:solidFill>
                <a:latin typeface="Calibri" pitchFamily="34" charset="0"/>
              </a:rPr>
              <a:t>✓ Echter HTTP-Request wird gemacht und abgefangen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de-DE" sz="1200" dirty="0">
                <a:solidFill>
                  <a:srgbClr val="5A6B7B"/>
                </a:solidFill>
                <a:latin typeface="Calibri" pitchFamily="34" charset="0"/>
              </a:rPr>
              <a:t>✓ Refactoring-sicher: Code ändern, Mocks bleiben</a:t>
            </a:r>
          </a:p>
          <a:p>
            <a:pPr marL="0" indent="0">
              <a:lnSpc>
                <a:spcPct val="130000"/>
              </a:lnSpc>
              <a:spcBef>
                <a:spcPts val="400"/>
              </a:spcBef>
              <a:buNone/>
            </a:pPr>
            <a:r>
              <a:rPr lang="de-DE" sz="1100" i="1" dirty="0">
                <a:solidFill>
                  <a:srgbClr val="5A6B7B"/>
                </a:solidFill>
                <a:latin typeface="Calibri" pitchFamily="34" charset="0"/>
              </a:rPr>
              <a:t>Echter Pizzabote klingelt – aber die Pizza ist eine Attrappe. Der Ablauf ist real.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ie funktioniert MSW?">
    <p:bg>
      <p:bgPr>
        <a:solidFill>
          <a:srgbClr val="F0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3200" b="1" dirty="0">
                <a:solidFill>
                  <a:srgbClr val="1A1A2E"/>
                </a:solidFill>
                <a:latin typeface="Consolas" pitchFamily="34" charset="0"/>
              </a:rPr>
              <a:t>Wie funktioniert MSW technisch?</a:t>
            </a:r>
          </a:p>
        </p:txBody>
      </p:sp>
      <p:sp>
        <p:nvSpPr>
          <p:cNvPr id="3" name="Sub"/>
          <p:cNvSpPr/>
          <p:nvPr/>
        </p:nvSpPr>
        <p:spPr>
          <a:xfrm>
            <a:off x="640080" y="8686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400" dirty="0">
                <a:solidFill>
                  <a:srgbClr val="5A6B7B"/>
                </a:solidFill>
                <a:latin typeface="Calibri" pitchFamily="34" charset="0"/>
              </a:rPr>
              <a:t>MSW nutzt einen Service Worker – eine JavaScript-Datei die als Proxy zwischen Browser und Netzwerk sitzt.</a:t>
            </a:r>
          </a:p>
        </p:txBody>
      </p:sp>
      <p:sp>
        <p:nvSpPr>
          <p:cNvPr id="4" name="Box1"/>
          <p:cNvSpPr/>
          <p:nvPr/>
        </p:nvSpPr>
        <p:spPr>
          <a:xfrm>
            <a:off x="640080" y="1417320"/>
            <a:ext cx="1554480" cy="548640"/>
          </a:xfrm>
          <a:prstGeom prst="rect">
            <a:avLst/>
          </a:prstGeom>
          <a:solidFill>
            <a:srgbClr val="028090"/>
          </a:solidFill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de-DE" sz="1200" b="1" dirty="0">
                <a:solidFill>
                  <a:srgbClr val="FFFFFF"/>
                </a:solidFill>
                <a:latin typeface="Calibri" pitchFamily="34" charset="0"/>
              </a:rPr>
              <a:t>React App</a:t>
            </a:r>
          </a:p>
        </p:txBody>
      </p:sp>
      <p:sp>
        <p:nvSpPr>
          <p:cNvPr id="5" name="Arrow1"/>
          <p:cNvSpPr/>
          <p:nvPr/>
        </p:nvSpPr>
        <p:spPr>
          <a:xfrm>
            <a:off x="2285760" y="16002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sz="2000" b="1" dirty="0">
                <a:solidFill>
                  <a:srgbClr val="1A1A2E"/>
                </a:solidFill>
                <a:latin typeface="Consolas" pitchFamily="34" charset="0"/>
              </a:rPr>
              <a:t>→</a:t>
            </a:r>
          </a:p>
        </p:txBody>
      </p:sp>
      <p:sp>
        <p:nvSpPr>
          <p:cNvPr id="6" name="Box2"/>
          <p:cNvSpPr/>
          <p:nvPr/>
        </p:nvSpPr>
        <p:spPr>
          <a:xfrm>
            <a:off x="2926080" y="1417320"/>
            <a:ext cx="1828800" cy="548640"/>
          </a:xfrm>
          <a:prstGeom prst="rect">
            <a:avLst/>
          </a:prstGeom>
          <a:solidFill>
            <a:srgbClr val="02C39A"/>
          </a:solidFill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de-DE" sz="1200" b="1" dirty="0">
                <a:solidFill>
                  <a:srgbClr val="FFFFFF"/>
                </a:solidFill>
                <a:latin typeface="Calibri" pitchFamily="34" charset="0"/>
              </a:rPr>
              <a:t>Service Worker</a:t>
            </a:r>
          </a:p>
        </p:txBody>
      </p:sp>
      <p:sp>
        <p:nvSpPr>
          <p:cNvPr id="7" name="Arrow2"/>
          <p:cNvSpPr/>
          <p:nvPr/>
        </p:nvSpPr>
        <p:spPr>
          <a:xfrm>
            <a:off x="4846560" y="16002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sz="2000" b="1" dirty="0">
                <a:solidFill>
                  <a:srgbClr val="1A1A2E"/>
                </a:solidFill>
                <a:latin typeface="Consolas" pitchFamily="34" charset="0"/>
              </a:rPr>
              <a:t>→</a:t>
            </a:r>
          </a:p>
        </p:txBody>
      </p:sp>
      <p:sp>
        <p:nvSpPr>
          <p:cNvPr id="8" name="Box3"/>
          <p:cNvSpPr/>
          <p:nvPr/>
        </p:nvSpPr>
        <p:spPr>
          <a:xfrm>
            <a:off x="5486880" y="1417320"/>
            <a:ext cx="2057400" cy="548640"/>
          </a:xfrm>
          <a:prstGeom prst="rect">
            <a:avLst/>
          </a:prstGeom>
          <a:solidFill>
            <a:srgbClr val="00A896"/>
          </a:solidFill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de-DE" sz="1200" b="1" dirty="0">
                <a:solidFill>
                  <a:srgbClr val="FFFFFF"/>
                </a:solidFill>
                <a:latin typeface="Calibri" pitchFamily="34" charset="0"/>
              </a:rPr>
              <a:t>MSW Handler ➜ Fake-Antwort</a:t>
            </a:r>
          </a:p>
        </p:txBody>
      </p:sp>
      <p:sp>
        <p:nvSpPr>
          <p:cNvPr id="9" name="FlowLabel"/>
          <p:cNvSpPr/>
          <p:nvPr/>
        </p:nvSpPr>
        <p:spPr>
          <a:xfrm>
            <a:off x="640080" y="2057400"/>
            <a:ext cx="690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sz="1100" i="1" dirty="0">
                <a:solidFill>
                  <a:srgbClr val="5A6B7B"/>
                </a:solidFill>
                <a:latin typeface="Calibri" pitchFamily="34" charset="0"/>
              </a:rPr>
              <a:t>Kein echter Server wird je erreicht – dein fetch()-Code bleibt 100% unverändert</a:t>
            </a:r>
          </a:p>
        </p:txBody>
      </p:sp>
      <p:sp>
        <p:nvSpPr>
          <p:cNvPr id="10" name="InfoLeft"/>
          <p:cNvSpPr/>
          <p:nvPr/>
        </p:nvSpPr>
        <p:spPr>
          <a:xfrm>
            <a:off x="640080" y="2468880"/>
            <a:ext cx="384048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11" name="InfoLeftBar"/>
          <p:cNvSpPr/>
          <p:nvPr/>
        </p:nvSpPr>
        <p:spPr>
          <a:xfrm>
            <a:off x="640080" y="2468880"/>
            <a:ext cx="3840480" cy="5486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2" name="InfoLeftText"/>
          <p:cNvSpPr/>
          <p:nvPr/>
        </p:nvSpPr>
        <p:spPr>
          <a:xfrm>
            <a:off x="868680" y="2560320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sz="1400" b="1" dirty="0">
                <a:solidFill>
                  <a:srgbClr val="028090"/>
                </a:solidFill>
                <a:latin typeface="Consolas" pitchFamily="34" charset="0"/>
              </a:rPr>
              <a:t>Im Browser</a:t>
            </a:r>
          </a:p>
          <a:p>
            <a:pPr marL="0" indent="0">
              <a:lnSpc>
                <a:spcPct val="130000"/>
              </a:lnSpc>
              <a:spcBef>
                <a:spcPts val="300"/>
              </a:spcBef>
              <a:buNone/>
            </a:pPr>
            <a:r>
              <a:rPr lang="de-DE" sz="1200" dirty="0">
                <a:solidFill>
                  <a:srgbClr val="5A6B7B"/>
                </a:solidFill>
                <a:latin typeface="Calibri" pitchFamily="34" charset="0"/>
              </a:rPr>
              <a:t>MSW registriert einen echten Service Worker. Jeder fetch()-Aufruf läuft durch diesen Worker – er kann Anfragen abfangen und ersetzen bevor sie den Server erreichen.</a:t>
            </a:r>
          </a:p>
        </p:txBody>
      </p:sp>
      <p:sp>
        <p:nvSpPr>
          <p:cNvPr id="13" name="InfoRight"/>
          <p:cNvSpPr/>
          <p:nvPr/>
        </p:nvSpPr>
        <p:spPr>
          <a:xfrm>
            <a:off x="4663200" y="2468880"/>
            <a:ext cx="384048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14" name="InfoRightBar"/>
          <p:cNvSpPr/>
          <p:nvPr/>
        </p:nvSpPr>
        <p:spPr>
          <a:xfrm>
            <a:off x="4663200" y="2468880"/>
            <a:ext cx="3840480" cy="54864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5" name="InfoRightText"/>
          <p:cNvSpPr/>
          <p:nvPr/>
        </p:nvSpPr>
        <p:spPr>
          <a:xfrm>
            <a:off x="4891800" y="2560320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sz="1400" b="1" dirty="0">
                <a:solidFill>
                  <a:srgbClr val="02C39A"/>
                </a:solidFill>
                <a:latin typeface="Consolas" pitchFamily="34" charset="0"/>
              </a:rPr>
              <a:t>In Tests (Node.js)</a:t>
            </a:r>
          </a:p>
          <a:p>
            <a:pPr marL="0" indent="0">
              <a:lnSpc>
                <a:spcPct val="130000"/>
              </a:lnSpc>
              <a:spcBef>
                <a:spcPts val="300"/>
              </a:spcBef>
              <a:buNone/>
            </a:pPr>
            <a:r>
              <a:rPr lang="de-DE" sz="1200" dirty="0">
                <a:solidFill>
                  <a:srgbClr val="5A6B7B"/>
                </a:solidFill>
                <a:latin typeface="Calibri" pitchFamily="34" charset="0"/>
              </a:rPr>
              <a:t>Kein Service Worker nötig. MSW hängt sich direkt in den Node.js-Netzwerk-Layer ein. Vitest und Jest nutzen einfach setupServer() – fertig.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MSW Handler definieren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Handler beschreibt: Welche URL abgefangen wird und was zurückkommt.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7863840" cy="30175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5" name="Text 3"/>
          <p:cNvSpPr/>
          <p:nvPr/>
        </p:nvSpPr>
        <p:spPr>
          <a:xfrm>
            <a:off x="914400" y="1645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handlers.js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2011680"/>
            <a:ext cx="7315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http, HttpResponse } from 'msw'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const handlers = [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GET /api/products → Fake-Produkte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http.get('/api/products', () =&gt; {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HttpResponse.json([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 id: 1, name: 'Laptop', preis: 999 },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 id: 2, name: 'Maus',   preis: 29  },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])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Fehler simulieren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MSW kannst du gezielt testen, wie deine App auf Serverfehler reagiert.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7863840" cy="20116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5" name="Text 3"/>
          <p:cNvSpPr/>
          <p:nvPr/>
        </p:nvSpPr>
        <p:spPr>
          <a:xfrm>
            <a:off x="914400" y="1645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error-handler.js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201168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http.get('/api/products', () =&gt; {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new HttpResponse(null, {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status: 500,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statusText: 'Internal Server Error'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840480"/>
            <a:ext cx="786384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8" name="Shape 6"/>
          <p:cNvSpPr/>
          <p:nvPr/>
        </p:nvSpPr>
        <p:spPr>
          <a:xfrm>
            <a:off x="640080" y="3840480"/>
            <a:ext cx="73152" cy="91440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de-AT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041648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08760" y="3931920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Ohne Mocking kannst du 500-Fehler nur testen, wenn das Backend wirklich ausfällt.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MSW macht Fehlerfälle jederzeit reproduzierbar.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MSW Server starten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Für Tests (Node.js) startest du den Server vor jedem Test.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7863840" cy="25603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5" name="Text 3"/>
          <p:cNvSpPr/>
          <p:nvPr/>
        </p:nvSpPr>
        <p:spPr>
          <a:xfrm>
            <a:off x="914400" y="1645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setup.js (Vitest / Jest)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2011680"/>
            <a:ext cx="7315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setupServer } from 'msw/node'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handlers } from './handlers'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server = setupServer(...handlers)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beforeAll(() =&gt; server.listen())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afterEach(() =&gt; server.resetHandlers())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afterAll(() =&gt; server.close())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4297680"/>
            <a:ext cx="246888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8" name="Text 6"/>
          <p:cNvSpPr/>
          <p:nvPr/>
        </p:nvSpPr>
        <p:spPr>
          <a:xfrm>
            <a:off x="822960" y="43434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beforeAll  →  Server starten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4297680"/>
            <a:ext cx="246888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10" name="Text 8"/>
          <p:cNvSpPr/>
          <p:nvPr/>
        </p:nvSpPr>
        <p:spPr>
          <a:xfrm>
            <a:off x="3520440" y="43434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afterEach  →  Handler reset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4297680"/>
            <a:ext cx="246888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12" name="Text 10"/>
          <p:cNvSpPr/>
          <p:nvPr/>
        </p:nvSpPr>
        <p:spPr>
          <a:xfrm>
            <a:off x="6217920" y="43434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afterAll  →  Server stoppen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Vorteile von MSW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384048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73152" cy="14173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de-AT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46304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417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Netzwerk-Ebene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14400" y="196596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Realistischer als jest.spyOn – testet den echten Netzwerk-Pfad deines Codes.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54880" y="1280160"/>
            <a:ext cx="384048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9" name="Shape 6"/>
          <p:cNvSpPr/>
          <p:nvPr/>
        </p:nvSpPr>
        <p:spPr>
          <a:xfrm>
            <a:off x="4754880" y="1280160"/>
            <a:ext cx="73152" cy="14173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de-AT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46304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532120" y="1417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Kein Backend nötig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5029200" y="196596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laufen auch wenn das Backend offline ist. Keine Datenbank nötig.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40080" y="2971800"/>
            <a:ext cx="384048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14" name="Shape 10"/>
          <p:cNvSpPr/>
          <p:nvPr/>
        </p:nvSpPr>
        <p:spPr>
          <a:xfrm>
            <a:off x="640080" y="2971800"/>
            <a:ext cx="73152" cy="14173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de-AT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15468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17320" y="3108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Einmal schreiben,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überall nutzen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914400" y="365760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Gleiche Mocks für Vitest, Playwright, Storybook und lokale Entwicklung.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754880" y="2971800"/>
            <a:ext cx="384048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19" name="Shape 14"/>
          <p:cNvSpPr/>
          <p:nvPr/>
        </p:nvSpPr>
        <p:spPr>
          <a:xfrm>
            <a:off x="4754880" y="2971800"/>
            <a:ext cx="73152" cy="14173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de-AT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315468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532120" y="3108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Schnell &amp; stabil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5029200" y="365760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echten Netzwerk-Aufrufe = schnelle, deterministische Tests.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inmal schreiben uberall nutzen">
    <p:bg>
      <p:bgPr>
        <a:solidFill>
          <a:srgbClr val="F0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3200" b="1" dirty="0">
                <a:solidFill>
                  <a:srgbClr val="1A1A2E"/>
                </a:solidFill>
                <a:latin typeface="Consolas" pitchFamily="34" charset="0"/>
              </a:rPr>
              <a:t>Einmal schreiben, überall nutzen</a:t>
            </a:r>
          </a:p>
        </p:txBody>
      </p:sp>
      <p:sp>
        <p:nvSpPr>
          <p:cNvPr id="3" name="Intro"/>
          <p:cNvSpPr/>
          <p:nvPr/>
        </p:nvSpPr>
        <p:spPr>
          <a:xfrm>
            <a:off x="640080" y="8686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300" dirty="0">
                <a:solidFill>
                  <a:srgbClr val="5A6B7B"/>
                </a:solidFill>
                <a:latin typeface="Calibri" pitchFamily="34" charset="0"/>
              </a:rPr>
              <a:t>Deine handlers.js einmal schreiben – und sie laufen in jeder Umgebung automatisch.</a:t>
            </a:r>
          </a:p>
        </p:txBody>
      </p:sp>
      <p:sp>
        <p:nvSpPr>
          <p:cNvPr id="4" name="C1bg"/>
          <p:cNvSpPr/>
          <p:nvPr/>
        </p:nvSpPr>
        <p:spPr>
          <a:xfrm>
            <a:off x="640080" y="1371600"/>
            <a:ext cx="365760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5" name="C1bar"/>
          <p:cNvSpPr/>
          <p:nvPr/>
        </p:nvSpPr>
        <p:spPr>
          <a:xfrm>
            <a:off x="640080" y="1371600"/>
            <a:ext cx="3657600" cy="5486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6" name="C1text"/>
          <p:cNvSpPr/>
          <p:nvPr/>
        </p:nvSpPr>
        <p:spPr>
          <a:xfrm>
            <a:off x="868680" y="146232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sz="1600" b="1" dirty="0">
                <a:solidFill>
                  <a:srgbClr val="028090"/>
                </a:solidFill>
                <a:latin typeface="Consolas" pitchFamily="34" charset="0"/>
              </a:rPr>
              <a:t>Vitest / Jest</a:t>
            </a:r>
          </a:p>
          <a:p>
            <a:pPr marL="0" indent="0">
              <a:lnSpc>
                <a:spcPct val="120000"/>
              </a:lnSpc>
              <a:spcBef>
                <a:spcPts val="200"/>
              </a:spcBef>
              <a:buNone/>
            </a:pPr>
            <a:r>
              <a:rPr lang="de-DE" sz="1200" dirty="0">
                <a:solidFill>
                  <a:srgbClr val="5A6B7B"/>
                </a:solidFill>
                <a:latin typeface="Calibri" pitchFamily="34" charset="0"/>
              </a:rPr>
              <a:t>setupServer() aus msw/node – läuft komplett in Node.js, kein Browser nötig.</a:t>
            </a:r>
          </a:p>
        </p:txBody>
      </p:sp>
      <p:sp>
        <p:nvSpPr>
          <p:cNvPr id="7" name="C2bg"/>
          <p:cNvSpPr/>
          <p:nvPr/>
        </p:nvSpPr>
        <p:spPr>
          <a:xfrm>
            <a:off x="4846560" y="1371600"/>
            <a:ext cx="365760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8" name="C2bar"/>
          <p:cNvSpPr/>
          <p:nvPr/>
        </p:nvSpPr>
        <p:spPr>
          <a:xfrm>
            <a:off x="4846560" y="1371600"/>
            <a:ext cx="3657600" cy="54864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9" name="C2text"/>
          <p:cNvSpPr/>
          <p:nvPr/>
        </p:nvSpPr>
        <p:spPr>
          <a:xfrm>
            <a:off x="5075160" y="146232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sz="1600" b="1" dirty="0">
                <a:solidFill>
                  <a:srgbClr val="02C39A"/>
                </a:solidFill>
                <a:latin typeface="Consolas" pitchFamily="34" charset="0"/>
              </a:rPr>
              <a:t>Playwright (E2E)</a:t>
            </a:r>
          </a:p>
          <a:p>
            <a:pPr marL="0" indent="0">
              <a:lnSpc>
                <a:spcPct val="120000"/>
              </a:lnSpc>
              <a:spcBef>
                <a:spcPts val="200"/>
              </a:spcBef>
              <a:buNone/>
            </a:pPr>
            <a:r>
              <a:rPr lang="de-DE" sz="1200" dirty="0">
                <a:solidFill>
                  <a:srgbClr val="5A6B7B"/>
                </a:solidFill>
                <a:latin typeface="Calibri" pitchFamily="34" charset="0"/>
              </a:rPr>
              <a:t>MSW startet als echter HTTP-Server für End-to-End Tests im echten Browser.</a:t>
            </a:r>
          </a:p>
        </p:txBody>
      </p:sp>
      <p:sp>
        <p:nvSpPr>
          <p:cNvPr id="10" name="C3bg"/>
          <p:cNvSpPr/>
          <p:nvPr/>
        </p:nvSpPr>
        <p:spPr>
          <a:xfrm>
            <a:off x="640080" y="3017520"/>
            <a:ext cx="365760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11" name="C3bar"/>
          <p:cNvSpPr/>
          <p:nvPr/>
        </p:nvSpPr>
        <p:spPr>
          <a:xfrm>
            <a:off x="640080" y="3017520"/>
            <a:ext cx="3657600" cy="5486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2" name="C3text"/>
          <p:cNvSpPr/>
          <p:nvPr/>
        </p:nvSpPr>
        <p:spPr>
          <a:xfrm>
            <a:off x="868680" y="310824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sz="1600" b="1" dirty="0">
                <a:solidFill>
                  <a:srgbClr val="028090"/>
                </a:solidFill>
                <a:latin typeface="Consolas" pitchFamily="34" charset="0"/>
              </a:rPr>
              <a:t>Lokale Entwicklung</a:t>
            </a:r>
          </a:p>
          <a:p>
            <a:pPr marL="0" indent="0">
              <a:lnSpc>
                <a:spcPct val="120000"/>
              </a:lnSpc>
              <a:spcBef>
                <a:spcPts val="200"/>
              </a:spcBef>
              <a:buNone/>
            </a:pPr>
            <a:r>
              <a:rPr lang="de-DE" sz="1200" dirty="0">
                <a:solidFill>
                  <a:srgbClr val="5A6B7B"/>
                </a:solidFill>
                <a:latin typeface="Calibri" pitchFamily="34" charset="0"/>
              </a:rPr>
              <a:t>Service Worker im Browser. Ihr könnt das Frontend entwickeln, auch wenn das Backend noch gar nicht existiert.</a:t>
            </a:r>
          </a:p>
        </p:txBody>
      </p:sp>
      <p:sp>
        <p:nvSpPr>
          <p:cNvPr id="13" name="C4bg"/>
          <p:cNvSpPr/>
          <p:nvPr/>
        </p:nvSpPr>
        <p:spPr>
          <a:xfrm>
            <a:off x="4846560" y="3017520"/>
            <a:ext cx="365760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14" name="C4bar"/>
          <p:cNvSpPr/>
          <p:nvPr/>
        </p:nvSpPr>
        <p:spPr>
          <a:xfrm>
            <a:off x="4846560" y="3017520"/>
            <a:ext cx="3657600" cy="54864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5" name="C4text"/>
          <p:cNvSpPr/>
          <p:nvPr/>
        </p:nvSpPr>
        <p:spPr>
          <a:xfrm>
            <a:off x="5075160" y="310824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sz="1600" b="1" dirty="0">
                <a:solidFill>
                  <a:srgbClr val="02C39A"/>
                </a:solidFill>
                <a:latin typeface="Consolas" pitchFamily="34" charset="0"/>
              </a:rPr>
              <a:t>Storybook</a:t>
            </a:r>
          </a:p>
          <a:p>
            <a:pPr marL="0" indent="0">
              <a:lnSpc>
                <a:spcPct val="120000"/>
              </a:lnSpc>
              <a:spcBef>
                <a:spcPts val="200"/>
              </a:spcBef>
              <a:buNone/>
            </a:pPr>
            <a:r>
              <a:rPr lang="de-DE" sz="1200" dirty="0">
                <a:solidFill>
                  <a:srgbClr val="5A6B7B"/>
                </a:solidFill>
                <a:latin typeface="Calibri" pitchFamily="34" charset="0"/>
              </a:rPr>
              <a:t>Komponenten mit Fake-Daten präsentieren. Kein echtes Backend für die Demo nötig.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743200"/>
            <a:ext cx="2743200" cy="2743200"/>
          </a:xfrm>
          <a:prstGeom prst="ellipse">
            <a:avLst/>
          </a:prstGeom>
          <a:solidFill>
            <a:srgbClr val="028090">
              <a:alpha val="25000"/>
            </a:srgbClr>
          </a:solidFill>
          <a:ln/>
        </p:spPr>
        <p:txBody>
          <a:bodyPr/>
          <a:lstStyle/>
          <a:p>
            <a:endParaRPr lang="de-AT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73152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5544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Zusammenfassung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3840480" y="2331720"/>
            <a:ext cx="1463040" cy="54864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6" name="Text 3"/>
          <p:cNvSpPr/>
          <p:nvPr/>
        </p:nvSpPr>
        <p:spPr>
          <a:xfrm>
            <a:off x="1371600" y="2560320"/>
            <a:ext cx="6400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API-Mocking simuliert Server-Antworten für Tests</a:t>
            </a:r>
            <a:endParaRPr lang="en-US" sz="1600" dirty="0"/>
          </a:p>
          <a:p>
            <a:pPr marL="0" indent="0" algn="ctr">
              <a:lnSpc>
                <a:spcPct val="110000"/>
              </a:lnSpc>
              <a:buNone/>
            </a:pPr>
            <a:endParaRPr lang="en-US" sz="16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MSW fängt Requests auf Netzwerk-Ebene ab</a:t>
            </a:r>
            <a:endParaRPr lang="en-US" sz="1600" dirty="0"/>
          </a:p>
          <a:p>
            <a:pPr marL="0" indent="0" algn="ctr">
              <a:lnSpc>
                <a:spcPct val="110000"/>
              </a:lnSpc>
              <a:buNone/>
            </a:pPr>
            <a:endParaRPr lang="en-US" sz="16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definierst Handler für Erfolg und Fehler</a:t>
            </a:r>
            <a:endParaRPr lang="en-US" sz="1600" dirty="0"/>
          </a:p>
          <a:p>
            <a:pPr marL="0" indent="0" algn="ctr">
              <a:lnSpc>
                <a:spcPct val="110000"/>
              </a:lnSpc>
              <a:buNone/>
            </a:pPr>
            <a:endParaRPr lang="en-US" sz="16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sind schnell, stabil und unabhängig vom Backend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eitfragen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3200" b="1" dirty="0">
                <a:solidFill>
                  <a:srgbClr val="02C39A"/>
                </a:solidFill>
                <a:latin typeface="Consolas" pitchFamily="34" charset="0"/>
              </a:rPr>
              <a:t>Leitfragen – kurz beantwortet</a:t>
            </a:r>
          </a:p>
        </p:txBody>
      </p:sp>
      <p:sp>
        <p:nvSpPr>
          <p:cNvPr id="3" name="Q1"/>
          <p:cNvSpPr/>
          <p:nvPr/>
        </p:nvSpPr>
        <p:spPr>
          <a:xfrm>
            <a:off x="640080" y="960120"/>
            <a:ext cx="3840480" cy="1737360"/>
          </a:xfrm>
          <a:prstGeom prst="rect">
            <a:avLst/>
          </a:prstGeom>
          <a:solidFill>
            <a:srgbClr val="252550"/>
          </a:solidFill>
          <a:ln>
            <a:solidFill>
              <a:srgbClr val="028090"/>
            </a:solidFill>
          </a:ln>
        </p:spPr>
        <p:txBody>
          <a:bodyPr wrap="square" lIns="182880" tIns="182880" rIns="182880" bIns="182880" rtlCol="0" anchor="t"/>
          <a:lstStyle/>
          <a:p>
            <a:pPr marL="0" indent="0">
              <a:buNone/>
            </a:pPr>
            <a:r>
              <a:rPr lang="de-DE" sz="1200" b="1" dirty="0">
                <a:solidFill>
                  <a:srgbClr val="028090"/>
                </a:solidFill>
                <a:latin typeface="Consolas" pitchFamily="34" charset="0"/>
              </a:rPr>
              <a:t>1. Warum keine echten APIs?</a:t>
            </a:r>
          </a:p>
          <a:p>
            <a:pPr marL="0" indent="0">
              <a:lnSpc>
                <a:spcPct val="120000"/>
              </a:lnSpc>
              <a:spcBef>
                <a:spcPts val="300"/>
              </a:spcBef>
              <a:buNone/>
            </a:pPr>
            <a:r>
              <a:rPr lang="de-DE" sz="1200" dirty="0">
                <a:solidFill>
                  <a:srgbClr val="CADCFC"/>
                </a:solidFill>
                <a:latin typeface="Calibri" pitchFamily="34" charset="0"/>
              </a:rPr>
              <a:t>Langsam, fragil, unkontrollierbar. Backend offline = alle Tests rot, auch wenn euer Code korrekt ist.</a:t>
            </a:r>
          </a:p>
        </p:txBody>
      </p:sp>
      <p:sp>
        <p:nvSpPr>
          <p:cNvPr id="4" name="Q2"/>
          <p:cNvSpPr/>
          <p:nvPr/>
        </p:nvSpPr>
        <p:spPr>
          <a:xfrm>
            <a:off x="4663200" y="960120"/>
            <a:ext cx="3840480" cy="1737360"/>
          </a:xfrm>
          <a:prstGeom prst="rect">
            <a:avLst/>
          </a:prstGeom>
          <a:solidFill>
            <a:srgbClr val="252550"/>
          </a:solidFill>
          <a:ln>
            <a:solidFill>
              <a:srgbClr val="02C39A"/>
            </a:solidFill>
          </a:ln>
        </p:spPr>
        <p:txBody>
          <a:bodyPr wrap="square" lIns="182880" tIns="182880" rIns="182880" bIns="182880" rtlCol="0" anchor="t"/>
          <a:lstStyle/>
          <a:p>
            <a:pPr marL="0" indent="0">
              <a:buNone/>
            </a:pPr>
            <a:r>
              <a:rPr lang="de-DE" sz="1200" b="1" dirty="0">
                <a:solidFill>
                  <a:srgbClr val="02C39A"/>
                </a:solidFill>
                <a:latin typeface="Consolas" pitchFamily="34" charset="0"/>
              </a:rPr>
              <a:t>2. MSW vs. jest.spyOn?</a:t>
            </a:r>
          </a:p>
          <a:p>
            <a:pPr marL="0" indent="0">
              <a:lnSpc>
                <a:spcPct val="120000"/>
              </a:lnSpc>
              <a:spcBef>
                <a:spcPts val="300"/>
              </a:spcBef>
              <a:buNone/>
            </a:pPr>
            <a:r>
              <a:rPr lang="de-DE" sz="1200" dirty="0">
                <a:solidFill>
                  <a:srgbClr val="CADCFC"/>
                </a:solidFill>
                <a:latin typeface="Calibri" pitchFamily="34" charset="0"/>
              </a:rPr>
              <a:t>MSW fängt auf Netzwerk-Ebene ab. fetch()-Code bleibt unverändert. Refactoring-sicher und bibliotheksunabhängig.</a:t>
            </a:r>
          </a:p>
        </p:txBody>
      </p:sp>
      <p:sp>
        <p:nvSpPr>
          <p:cNvPr id="5" name="Q3"/>
          <p:cNvSpPr/>
          <p:nvPr/>
        </p:nvSpPr>
        <p:spPr>
          <a:xfrm>
            <a:off x="640080" y="2788560"/>
            <a:ext cx="3840480" cy="1737360"/>
          </a:xfrm>
          <a:prstGeom prst="rect">
            <a:avLst/>
          </a:prstGeom>
          <a:solidFill>
            <a:srgbClr val="252550"/>
          </a:solidFill>
          <a:ln>
            <a:solidFill>
              <a:srgbClr val="028090"/>
            </a:solidFill>
          </a:ln>
        </p:spPr>
        <p:txBody>
          <a:bodyPr wrap="square" lIns="182880" tIns="182880" rIns="182880" bIns="182880" rtlCol="0" anchor="t"/>
          <a:lstStyle/>
          <a:p>
            <a:pPr marL="0" indent="0">
              <a:buNone/>
            </a:pPr>
            <a:r>
              <a:rPr lang="de-DE" sz="1200" b="1" dirty="0">
                <a:solidFill>
                  <a:srgbClr val="028090"/>
                </a:solidFill>
                <a:latin typeface="Consolas" pitchFamily="34" charset="0"/>
              </a:rPr>
              <a:t>3. Backend offline?</a:t>
            </a:r>
          </a:p>
          <a:p>
            <a:pPr marL="0" indent="0">
              <a:lnSpc>
                <a:spcPct val="120000"/>
              </a:lnSpc>
              <a:spcBef>
                <a:spcPts val="300"/>
              </a:spcBef>
              <a:buNone/>
            </a:pPr>
            <a:r>
              <a:rPr lang="de-DE" sz="1200" dirty="0">
                <a:solidFill>
                  <a:srgbClr val="CADCFC"/>
                </a:solidFill>
                <a:latin typeface="Calibri" pitchFamily="34" charset="0"/>
              </a:rPr>
              <a:t>Mit MSW: gar nichts. Tests laufen komplett lokal. Server-Ausfälle haben null Einfluss auf eure Tests.</a:t>
            </a:r>
          </a:p>
        </p:txBody>
      </p:sp>
      <p:sp>
        <p:nvSpPr>
          <p:cNvPr id="6" name="Q4"/>
          <p:cNvSpPr/>
          <p:nvPr/>
        </p:nvSpPr>
        <p:spPr>
          <a:xfrm>
            <a:off x="4663200" y="2788560"/>
            <a:ext cx="3840480" cy="1737360"/>
          </a:xfrm>
          <a:prstGeom prst="rect">
            <a:avLst/>
          </a:prstGeom>
          <a:solidFill>
            <a:srgbClr val="252550"/>
          </a:solidFill>
          <a:ln>
            <a:solidFill>
              <a:srgbClr val="02C39A"/>
            </a:solidFill>
          </a:ln>
        </p:spPr>
        <p:txBody>
          <a:bodyPr wrap="square" lIns="182880" tIns="182880" rIns="182880" bIns="182880" rtlCol="0" anchor="t"/>
          <a:lstStyle/>
          <a:p>
            <a:pPr marL="0" indent="0">
              <a:buNone/>
            </a:pPr>
            <a:r>
              <a:rPr lang="de-DE" sz="1200" b="1" dirty="0">
                <a:solidFill>
                  <a:srgbClr val="02C39A"/>
                </a:solidFill>
                <a:latin typeface="Consolas" pitchFamily="34" charset="0"/>
              </a:rPr>
              <a:t>4. Einmal schreiben, überall?</a:t>
            </a:r>
          </a:p>
          <a:p>
            <a:pPr marL="0" indent="0">
              <a:lnSpc>
                <a:spcPct val="120000"/>
              </a:lnSpc>
              <a:spcBef>
                <a:spcPts val="300"/>
              </a:spcBef>
              <a:buNone/>
            </a:pPr>
            <a:r>
              <a:rPr lang="de-DE" sz="1200" dirty="0">
                <a:solidFill>
                  <a:srgbClr val="CADCFC"/>
                </a:solidFill>
                <a:latin typeface="Calibri" pitchFamily="34" charset="0"/>
              </a:rPr>
              <a:t>Dieselbe handlers.js läuft in Vitest, Playwright, Storybook und lokalem Dev-Server. Kein Duplikat, keine Inkonsistenz.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1102</Words>
  <Application>Microsoft Office PowerPoint</Application>
  <PresentationFormat>Bildschirmpräsentation (16:9)</PresentationFormat>
  <Paragraphs>164</Paragraphs>
  <Slides>14</Slides>
  <Notes>9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14</vt:i4>
      </vt:variant>
    </vt:vector>
  </HeadingPairs>
  <TitlesOfParts>
    <vt:vector size="18" baseType="lpstr">
      <vt:lpstr>Arial</vt:lpstr>
      <vt:lpstr>Calibri</vt:lpstr>
      <vt:lpstr>Consolas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Die Netzwerkgrenze – API-Mocking</dc:title>
  <dc:subject>PptxGenJS Presentation</dc:subject>
  <dc:creator>Gruppe 3</dc:creator>
  <cp:lastModifiedBy>Basra Prince</cp:lastModifiedBy>
  <cp:revision>2</cp:revision>
  <dcterms:created xsi:type="dcterms:W3CDTF">2026-03-11T12:57:48Z</dcterms:created>
  <dcterms:modified xsi:type="dcterms:W3CDTF">2026-03-11T21:03:17Z</dcterms:modified>
</cp:coreProperties>
</file>